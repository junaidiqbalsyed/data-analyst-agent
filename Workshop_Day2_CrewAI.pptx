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34500" y="-1905000"/>
            <a:ext cx="3810000" cy="38100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77500" y="2571750"/>
            <a:ext cx="2857500" cy="28575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250" y="5429250"/>
            <a:ext cx="1714500" cy="17145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onsolas"/>
              </a:rPr>
              <a:t>WORKSHOP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AGENTIC AI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" y="114300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onsolas"/>
              </a:rPr>
              <a:t>FROM A SINGLE LLM CALL TO A MULTI-AGENT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" y="1409700"/>
            <a:ext cx="8191500" cy="2000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1A1A1A"/>
                </a:solidFill>
                <a:latin typeface="Calibri"/>
              </a:rPr>
              <a:t>Building Multi-Agent
AI Systems with CrewAI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" y="3619500"/>
            <a:ext cx="6858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85858"/>
                </a:solidFill>
                <a:latin typeface="Calibri"/>
              </a:rPr>
              <a:t>A hands-on workshop: what an agent actually is, how CrewAI orchestrates many of them together, and a real hierarchical + sequential analytics chatbot we'll build and demo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300" y="4686300"/>
            <a:ext cx="3429000" cy="5715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50" y="4762500"/>
            <a:ext cx="32385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Syed Junaid Iqbal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" y="4991100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C3AED"/>
                </a:solidFill>
                <a:latin typeface="Consolas"/>
              </a:rPr>
              <a:t>linkedin.com/in/syedjunaidiqbal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01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onsola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3-HOUR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What we'll cover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300" y="1181100"/>
            <a:ext cx="5486400" cy="22479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650" y="13144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onsolas"/>
              </a:rPr>
              <a:t>PART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1543050"/>
            <a:ext cx="504825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1905000"/>
            <a:ext cx="51435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Simple LLM inference vs. an agent — what changes when an LLM gets a goal, tools, and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15050" y="1181100"/>
            <a:ext cx="5486400" cy="22479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8400" y="13144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PART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1543050"/>
            <a:ext cx="504825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CrewAI Core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1905000"/>
            <a:ext cx="51435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Agents, Role/Goal/Backstory, Tasks, Crews &amp; Process, Tools, Memory, Planning, Reasoning, Orchestration.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300" y="3562350"/>
            <a:ext cx="5486400" cy="22479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650" y="36957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PART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" y="3924300"/>
            <a:ext cx="504825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Our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" y="4286250"/>
            <a:ext cx="51435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A real multi-level analytics chatbot: architecture, the two operating modes, guard rails, and hard lessons.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5050" y="3562350"/>
            <a:ext cx="5486400" cy="2247900"/>
          </a:xfrm>
          <a:prstGeom prst="roundRect">
            <a:avLst/>
          </a:prstGeom>
          <a:solidFill>
            <a:srgbClr val="F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8400" y="36957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5D3C"/>
                </a:solidFill>
                <a:latin typeface="Consolas"/>
              </a:rPr>
              <a:t>PART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8400" y="3924300"/>
            <a:ext cx="504825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Demo &amp; Wrap-up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8400" y="4286250"/>
            <a:ext cx="51435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Live demo, key takeaways, resources to keep learning, and how to reach 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02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29750" y="-1905000"/>
            <a:ext cx="3810000" cy="38100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63000" y="4953000"/>
            <a:ext cx="3048000" cy="30480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onsolas"/>
              </a:rPr>
              <a:t>PART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AGENDA ITEM 1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" y="381000"/>
            <a:ext cx="9525000" cy="361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0" b="1" i="0">
                <a:solidFill>
                  <a:srgbClr val="C4B5FD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" y="3143250"/>
            <a:ext cx="95250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1A1A1A"/>
                </a:solidFill>
                <a:latin typeface="Calibri"/>
              </a:rPr>
              <a:t>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" y="3867150"/>
            <a:ext cx="7810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85858"/>
                </a:solidFill>
                <a:latin typeface="Calibri"/>
              </a:rPr>
              <a:t>What is an agent, really — and why isn't a single LLM call enough?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03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onsolas"/>
              </a:rPr>
              <a:t>PART 01 ·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LLM CALL, NOT YET AN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A simple LLM call,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085850"/>
            <a:ext cx="11201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Before 'agents' — this is what most people mean by 'using an LLM': one prompt in, one completion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5025" y="1409700"/>
            <a:ext cx="2152650" cy="123825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19325" y="1504950"/>
            <a:ext cx="19240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onsola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9325" y="1695450"/>
            <a:ext cx="19240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9325" y="2000250"/>
            <a:ext cx="192405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85858"/>
                </a:solidFill>
                <a:latin typeface="Calibri"/>
              </a:rPr>
              <a:t>"Which number is
bigger, 9.11 or 9.8?"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33875" y="2028825"/>
            <a:ext cx="685800" cy="0"/>
          </a:xfrm>
          <a:prstGeom prst="line">
            <a:avLst/>
          </a:prstGeom>
          <a:ln w="25400">
            <a:solidFill>
              <a:srgbClr val="9E9E9E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19675" y="1409700"/>
            <a:ext cx="2152650" cy="12382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3975" y="1504950"/>
            <a:ext cx="19240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3975" y="1695450"/>
            <a:ext cx="19240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3975" y="2000250"/>
            <a:ext cx="192405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85858"/>
                </a:solidFill>
                <a:latin typeface="Calibri"/>
              </a:rPr>
              <a:t>predicts the next tokens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48525" y="2028825"/>
            <a:ext cx="685800" cy="0"/>
          </a:xfrm>
          <a:prstGeom prst="line">
            <a:avLst/>
          </a:prstGeom>
          <a:ln w="25400">
            <a:solidFill>
              <a:srgbClr val="9E9E9E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34325" y="1409700"/>
            <a:ext cx="2152650" cy="123825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8625" y="1504950"/>
            <a:ext cx="19240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8625" y="1695450"/>
            <a:ext cx="19240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Completion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8625" y="2000250"/>
            <a:ext cx="192405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85858"/>
                </a:solidFill>
                <a:latin typeface="Calibri"/>
              </a:rPr>
              <a:t>"9.8 is larger."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175" y="2857500"/>
            <a:ext cx="2628900" cy="742950"/>
          </a:xfrm>
          <a:prstGeom prst="roundRect">
            <a:avLst/>
          </a:prstGeom>
          <a:solidFill>
            <a:srgbClr val="F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4850" y="2962275"/>
            <a:ext cx="95250" cy="95250"/>
          </a:xfrm>
          <a:prstGeom prst="ellipse">
            <a:avLst/>
          </a:prstGeom>
          <a:solidFill>
            <a:srgbClr val="E05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775" y="29337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Calibri"/>
              </a:rPr>
              <a:t>Stateless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775" y="3181350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No memory of the last call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00425" y="2857500"/>
            <a:ext cx="2628900" cy="742950"/>
          </a:xfrm>
          <a:prstGeom prst="roundRect">
            <a:avLst/>
          </a:prstGeom>
          <a:solidFill>
            <a:srgbClr val="F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67100" y="2962275"/>
            <a:ext cx="95250" cy="95250"/>
          </a:xfrm>
          <a:prstGeom prst="ellipse">
            <a:avLst/>
          </a:prstGeom>
          <a:solidFill>
            <a:srgbClr val="E05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9025" y="29337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Calibri"/>
              </a:rPr>
              <a:t>No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9025" y="3181350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Can't query a database or call an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2675" y="2857500"/>
            <a:ext cx="2628900" cy="742950"/>
          </a:xfrm>
          <a:prstGeom prst="roundRect">
            <a:avLst/>
          </a:prstGeom>
          <a:solidFill>
            <a:srgbClr val="F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29350" y="2962275"/>
            <a:ext cx="95250" cy="95250"/>
          </a:xfrm>
          <a:prstGeom prst="ellipse">
            <a:avLst/>
          </a:prstGeom>
          <a:solidFill>
            <a:srgbClr val="E05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275" y="29337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Calibri"/>
              </a:rPr>
              <a:t>No goal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275" y="3181350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Just finishes the text you started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24925" y="2857500"/>
            <a:ext cx="2628900" cy="742950"/>
          </a:xfrm>
          <a:prstGeom prst="roundRect">
            <a:avLst/>
          </a:prstGeom>
          <a:solidFill>
            <a:srgbClr val="F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91600" y="2962275"/>
            <a:ext cx="95250" cy="95250"/>
          </a:xfrm>
          <a:prstGeom prst="ellipse">
            <a:avLst/>
          </a:prstGeom>
          <a:solidFill>
            <a:srgbClr val="E05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53525" y="29337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Calibri"/>
              </a:rPr>
              <a:t>You are the 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3525" y="3181350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You decide the next step, every 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04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onsolas"/>
              </a:rPr>
              <a:t>PART 01 ·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DEFINING 'AGENT'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What is an agent?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104900"/>
            <a:ext cx="4953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85858"/>
                </a:solidFill>
                <a:latin typeface="Calibri"/>
              </a:rPr>
              <a:t>An agent is an LLM wrapped in a loop: it's given a goal, a set of tools it can call, and memory of what's happened so far — then it decides what to do next, not just what to say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2019300"/>
            <a:ext cx="4953000" cy="6858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09550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onsolas"/>
              </a:rPr>
              <a:t>RULE OF THUMB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286000"/>
            <a:ext cx="47053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If it can look something up, take an action, and change its plan based on what it finds — it's an agent.</a:t>
            </a:r>
          </a:p>
        </p:txBody>
      </p:sp>
      <p:sp>
        <p:nvSpPr>
          <p:cNvPr id="10" name="Oval 9"/>
          <p:cNvSpPr/>
          <p:nvPr/>
        </p:nvSpPr>
        <p:spPr>
          <a:xfrm>
            <a:off x="7924800" y="2876550"/>
            <a:ext cx="1295400" cy="12954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33147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Goal-directed
LLM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572500" y="1905000"/>
            <a:ext cx="0" cy="161925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153400" y="1485900"/>
            <a:ext cx="838200" cy="8382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09750"/>
            <a:ext cx="6858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7C3AED"/>
                </a:solidFill>
                <a:latin typeface="Consolas"/>
              </a:rPr>
              <a:t>Think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72500" y="3524250"/>
            <a:ext cx="161925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772650" y="3105150"/>
            <a:ext cx="838200" cy="838200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48850" y="3429000"/>
            <a:ext cx="6858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563EB"/>
                </a:solidFill>
                <a:latin typeface="Consolas"/>
              </a:rPr>
              <a:t>Act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72500" y="3524250"/>
            <a:ext cx="0" cy="161925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153400" y="4724400"/>
            <a:ext cx="838200" cy="838200"/>
          </a:xfrm>
          <a:prstGeom prst="ellipse">
            <a:avLst/>
          </a:prstGeom>
          <a:solidFill>
            <a:srgbClr val="CCFBF1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048250"/>
            <a:ext cx="6858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D9488"/>
                </a:solidFill>
                <a:latin typeface="Consolas"/>
              </a:rPr>
              <a:t>Observe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953250" y="3524250"/>
            <a:ext cx="1619250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534150" y="3105150"/>
            <a:ext cx="838200" cy="838200"/>
          </a:xfrm>
          <a:prstGeom prst="ellipse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0350" y="3429000"/>
            <a:ext cx="6858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D97706"/>
                </a:solidFill>
                <a:latin typeface="Consolas"/>
              </a:rPr>
              <a:t>Decide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05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onsolas"/>
              </a:rPr>
              <a:t>PART 01 ·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LLM call vs.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400300" y="1143000"/>
            <a:ext cx="4476750" cy="4191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238250"/>
            <a:ext cx="42481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Plain LLM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972300" y="1143000"/>
            <a:ext cx="4476750" cy="4191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238250"/>
            <a:ext cx="42481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5300" y="1143000"/>
            <a:ext cx="10763250" cy="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5300" y="5372100"/>
            <a:ext cx="10763250" cy="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5300" y="1143000"/>
            <a:ext cx="0" cy="422910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258550" y="1143000"/>
            <a:ext cx="0" cy="422910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5300" y="1562100"/>
            <a:ext cx="10763250" cy="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400300" y="1562100"/>
            <a:ext cx="0" cy="76200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72300" y="1562100"/>
            <a:ext cx="0" cy="76200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1500" y="1790700"/>
            <a:ext cx="1657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E9E9E"/>
                </a:solidFill>
                <a:latin typeface="Consolas"/>
              </a:rPr>
              <a:t>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1657350"/>
            <a:ext cx="42481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None — every call starts blank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657350"/>
            <a:ext cx="42481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Memory across a session (and beyond)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5300" y="2324100"/>
            <a:ext cx="10763250" cy="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400300" y="2324100"/>
            <a:ext cx="0" cy="76200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72300" y="2324100"/>
            <a:ext cx="0" cy="76200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1500" y="2552700"/>
            <a:ext cx="1657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E9E9E"/>
                </a:solidFill>
                <a:latin typeface="Consolas"/>
              </a:rPr>
              <a:t>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2419350"/>
            <a:ext cx="42481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None — text in, text out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419350"/>
            <a:ext cx="42481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Tools: query data, call APIs, run code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5300" y="3086100"/>
            <a:ext cx="10763250" cy="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400300" y="3086100"/>
            <a:ext cx="0" cy="76200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72300" y="3086100"/>
            <a:ext cx="0" cy="76200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1500" y="3314700"/>
            <a:ext cx="1657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E9E9E"/>
                </a:solidFill>
                <a:latin typeface="Consolas"/>
              </a:rPr>
              <a:t>DECISIONS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181350"/>
            <a:ext cx="42481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The caller decides every next step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181350"/>
            <a:ext cx="42481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The agent decides its own next step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95300" y="3848100"/>
            <a:ext cx="10763250" cy="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400300" y="3848100"/>
            <a:ext cx="0" cy="76200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72300" y="3848100"/>
            <a:ext cx="0" cy="76200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71500" y="4076700"/>
            <a:ext cx="1657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E9E9E"/>
                </a:solidFill>
                <a:latin typeface="Consolas"/>
              </a:rPr>
              <a:t>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3943350"/>
            <a:ext cx="42481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One turn, one answer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943350"/>
            <a:ext cx="42481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A multi-step job, run to completion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5300" y="4610100"/>
            <a:ext cx="10763250" cy="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00300" y="4610100"/>
            <a:ext cx="0" cy="76200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972300" y="4610100"/>
            <a:ext cx="0" cy="76200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1500" y="4838700"/>
            <a:ext cx="1657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E9E9E"/>
                </a:solidFill>
                <a:latin typeface="Consolas"/>
              </a:rPr>
              <a:t>EXAMPLE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705350"/>
            <a:ext cx="42481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"Summarize this paragraph"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4705350"/>
            <a:ext cx="42481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"Find last quarter's top product and explain why"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06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29750" y="-1905000"/>
            <a:ext cx="3810000" cy="38100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63000" y="4953000"/>
            <a:ext cx="3048000" cy="3048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PART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AGENDA ITEM 2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" y="381000"/>
            <a:ext cx="9525000" cy="361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0" b="1" i="0">
                <a:solidFill>
                  <a:srgbClr val="93C5FD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" y="3143250"/>
            <a:ext cx="95250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1A1A1A"/>
                </a:solidFill>
                <a:latin typeface="Calibri"/>
              </a:rPr>
              <a:t>CrewAI Core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" y="3867150"/>
            <a:ext cx="7810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85858"/>
                </a:solidFill>
                <a:latin typeface="Calibri"/>
              </a:rPr>
              <a:t>Agents, Tasks, Crews, Tools, Memory, Planning, Reasoning — the pieces CrewAI gives you to build a team of agents.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07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PART 02 · CREWAI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THE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What is CrewAI?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104900"/>
            <a:ext cx="4953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85858"/>
                </a:solidFill>
                <a:latin typeface="Calibri"/>
              </a:rPr>
              <a:t>An open-source Python framework for organizing multiple LLM agents into a working team — each with its own role, tools, and memory — coordinated by a process you choose.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" y="1924050"/>
            <a:ext cx="4953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85858"/>
                </a:solidFill>
                <a:latin typeface="Calibri"/>
              </a:rPr>
              <a:t>Instead of one giant prompt trying to do everything, you compose specialists — the same way a real team divides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5500" y="914400"/>
            <a:ext cx="2571750" cy="74295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800" y="1009650"/>
            <a:ext cx="23431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7C3AED"/>
                </a:solidFill>
                <a:latin typeface="Calibri"/>
              </a:rPr>
              <a:t>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800" y="1352550"/>
            <a:ext cx="23431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Role-driven workers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1550" y="914400"/>
            <a:ext cx="2571750" cy="7429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850" y="1009650"/>
            <a:ext cx="23431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563EB"/>
                </a:solidFill>
                <a:latin typeface="Calibri"/>
              </a:rPr>
              <a:t>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850" y="1352550"/>
            <a:ext cx="23431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Units of work, chained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5500" y="1771650"/>
            <a:ext cx="2571750" cy="74295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9800" y="1866900"/>
            <a:ext cx="23431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D9488"/>
                </a:solidFill>
                <a:latin typeface="Calibri"/>
              </a:rPr>
              <a:t>Crews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9800" y="2209800"/>
            <a:ext cx="23431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Agents + tasks + process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1550" y="1771650"/>
            <a:ext cx="2571750" cy="74295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850" y="1866900"/>
            <a:ext cx="23431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D97706"/>
                </a:solidFill>
                <a:latin typeface="Calibri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850" y="2209800"/>
            <a:ext cx="23431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Real actions ("skills")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05500" y="2628900"/>
            <a:ext cx="2571750" cy="742950"/>
          </a:xfrm>
          <a:prstGeom prst="roundRect">
            <a:avLst/>
          </a:prstGeom>
          <a:solidFill>
            <a:srgbClr val="F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9800" y="2724150"/>
            <a:ext cx="23431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05D3C"/>
                </a:solidFill>
                <a:latin typeface="Calibri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9800" y="3067050"/>
            <a:ext cx="23431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Short/long/entity recall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1550" y="2628900"/>
            <a:ext cx="2571750" cy="74295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05850" y="2724150"/>
            <a:ext cx="23431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7C3AED"/>
                </a:solidFill>
                <a:latin typeface="Calibri"/>
              </a:rPr>
              <a:t>Planning &amp;
Reasoning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850" y="3067050"/>
            <a:ext cx="23431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Think before/while acting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08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PART 02 · CREWAI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HOW THE PIECES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Everything revolves around the Crew</a:t>
            </a:r>
          </a:p>
        </p:txBody>
      </p:sp>
      <p:sp>
        <p:nvSpPr>
          <p:cNvPr id="6" name="Oval 5"/>
          <p:cNvSpPr/>
          <p:nvPr/>
        </p:nvSpPr>
        <p:spPr>
          <a:xfrm>
            <a:off x="5410200" y="3028950"/>
            <a:ext cx="1371600" cy="1371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34050" y="3543300"/>
            <a:ext cx="723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Crew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4050" y="3752850"/>
            <a:ext cx="723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onsolas"/>
              </a:rPr>
              <a:t>the team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096000" y="1924050"/>
            <a:ext cx="0" cy="1790700"/>
          </a:xfrm>
          <a:prstGeom prst="line">
            <a:avLst/>
          </a:prstGeom>
          <a:ln w="190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619750" y="1447800"/>
            <a:ext cx="952500" cy="9525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76900" y="1790700"/>
            <a:ext cx="8382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7C3AED"/>
                </a:solidFill>
                <a:latin typeface="Calibri"/>
              </a:rP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6900" y="198120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7C3AED"/>
                </a:solidFill>
                <a:latin typeface="Consolas"/>
              </a:rPr>
              <a:t>workers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096000" y="2819400"/>
            <a:ext cx="1790700" cy="895350"/>
          </a:xfrm>
          <a:prstGeom prst="line">
            <a:avLst/>
          </a:prstGeom>
          <a:ln w="190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410450" y="2343150"/>
            <a:ext cx="952500" cy="952500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67600" y="2686050"/>
            <a:ext cx="8382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563EB"/>
                </a:solidFill>
                <a:latin typeface="Calibri"/>
              </a:rPr>
              <a:t>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0" y="287655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  <a:latin typeface="Consolas"/>
              </a:rPr>
              <a:t>the work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3714750"/>
            <a:ext cx="1790700" cy="895350"/>
          </a:xfrm>
          <a:prstGeom prst="line">
            <a:avLst/>
          </a:prstGeom>
          <a:ln w="190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410450" y="4133850"/>
            <a:ext cx="952500" cy="952500"/>
          </a:xfrm>
          <a:prstGeom prst="ellipse">
            <a:avLst/>
          </a:prstGeom>
          <a:solidFill>
            <a:srgbClr val="CCFBF1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7600" y="4476750"/>
            <a:ext cx="8382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D9488"/>
                </a:solidFill>
                <a:latin typeface="Calibri"/>
              </a:rP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7600" y="466725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D9488"/>
                </a:solidFill>
                <a:latin typeface="Consolas"/>
              </a:rPr>
              <a:t>seq/hierarch.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0" y="3714750"/>
            <a:ext cx="0" cy="1790700"/>
          </a:xfrm>
          <a:prstGeom prst="line">
            <a:avLst/>
          </a:prstGeom>
          <a:ln w="190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619750" y="5029200"/>
            <a:ext cx="952500" cy="952500"/>
          </a:xfrm>
          <a:prstGeom prst="ellipse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76900" y="5372100"/>
            <a:ext cx="8382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D97706"/>
                </a:solidFill>
                <a:latin typeface="Calibri"/>
              </a:rPr>
              <a:t>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76900" y="556260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D97706"/>
                </a:solidFill>
                <a:latin typeface="Consolas"/>
              </a:rPr>
              <a:t>skills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305300" y="3714750"/>
            <a:ext cx="1790700" cy="895350"/>
          </a:xfrm>
          <a:prstGeom prst="line">
            <a:avLst/>
          </a:prstGeom>
          <a:ln w="190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829050" y="4133850"/>
            <a:ext cx="952500" cy="952500"/>
          </a:xfrm>
          <a:prstGeom prst="ellipse">
            <a:avLst/>
          </a:prstGeom>
          <a:solidFill>
            <a:srgbClr val="FEE2D5"/>
          </a:solidFill>
          <a:ln w="25400">
            <a:solidFill>
              <a:srgbClr val="E05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86200" y="4476750"/>
            <a:ext cx="8382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E05D3C"/>
                </a:solidFill>
                <a:latin typeface="Calibri"/>
              </a:rPr>
              <a:t>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66725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05D3C"/>
                </a:solidFill>
                <a:latin typeface="Consolas"/>
              </a:rPr>
              <a:t>recall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4305300" y="2819400"/>
            <a:ext cx="1790700" cy="895350"/>
          </a:xfrm>
          <a:prstGeom prst="line">
            <a:avLst/>
          </a:prstGeom>
          <a:ln w="190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829050" y="2343150"/>
            <a:ext cx="952500" cy="9525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6200" y="2686050"/>
            <a:ext cx="8382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7C3AED"/>
                </a:solidFill>
                <a:latin typeface="Calibri"/>
              </a:rPr>
              <a:t>Planning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287655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7C3AED"/>
                </a:solidFill>
                <a:latin typeface="Consolas"/>
              </a:rPr>
              <a:t>up-front plan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09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PART 02 · CREWAI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SHAPING AN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Role, Goal, Backstory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104900"/>
            <a:ext cx="11201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Three plain-text fields — they shape how the LLM interprets every task it's given.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352550"/>
            <a:ext cx="3524250" cy="12954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447800"/>
            <a:ext cx="32956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onsolas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657350"/>
            <a:ext cx="32956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Who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943100"/>
            <a:ext cx="329565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85858"/>
                </a:solidFill>
                <a:latin typeface="Calibri"/>
              </a:rPr>
              <a:t>Sets expertise &amp; framing — 'Data Analyst' thinks differently than 'Report Critic'.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52900" y="1352550"/>
            <a:ext cx="3524250" cy="1295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7200" y="1447800"/>
            <a:ext cx="32956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7200" y="1657350"/>
            <a:ext cx="32956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What it's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1943100"/>
            <a:ext cx="329565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85858"/>
                </a:solidFill>
                <a:latin typeface="Calibri"/>
              </a:rPr>
              <a:t>The objective — and just as important, the constraints ('answer directly, don't over-audit').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0500" y="1352550"/>
            <a:ext cx="3524250" cy="12954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800" y="1447800"/>
            <a:ext cx="32956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BACKSTORY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0" y="1657350"/>
            <a:ext cx="32956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How it behaves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800" y="1943100"/>
            <a:ext cx="329565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85858"/>
                </a:solidFill>
                <a:latin typeface="Calibri"/>
              </a:rPr>
              <a:t>Tone and judgment — thorough vs. fast, cautious vs. direct.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300" y="2762250"/>
            <a:ext cx="11201400" cy="14097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700" y="2857500"/>
            <a:ext cx="10896600" cy="1219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>
                <a:solidFill>
                  <a:srgbClr val="9E9E9E"/>
                </a:solidFill>
                <a:latin typeface="Consolas"/>
              </a:rPr>
              <a:t># from our project — app/agents/agent_factory.py</a:t>
            </a:r>
          </a:p>
          <a:p>
            <a:r>
              <a:rPr sz="1150">
                <a:solidFill>
                  <a:srgbClr val="FFFFFF"/>
                </a:solidFill>
                <a:latin typeface="Consolas"/>
              </a:rPr>
              <a:t>Agent(</a:t>
            </a:r>
          </a:p>
          <a:p>
            <a:r>
              <a:rPr sz="1150">
                <a:solidFill>
                  <a:srgbClr val="FCD34D"/>
                </a:solidFill>
                <a:latin typeface="Consolas"/>
              </a:rPr>
              <a:t>  role="Fast Analyst",</a:t>
            </a:r>
          </a:p>
          <a:p>
            <a:r>
              <a:rPr sz="1150">
                <a:solidFill>
                  <a:srgbClr val="5EEAD4"/>
                </a:solidFill>
                <a:latin typeface="Consolas"/>
              </a:rPr>
              <a:t>  goal="Answer directly and quickly... never mention SQL, tables, databases...",</a:t>
            </a:r>
          </a:p>
          <a:p>
            <a:r>
              <a:rPr sz="1150">
                <a:solidFill>
                  <a:srgbClr val="5EEAD4"/>
                </a:solidFill>
                <a:latin typeface="Consolas"/>
              </a:rPr>
              <a:t>  backstory="A fast, careful data analyst who answers directly but never fudges a gap..."</a:t>
            </a:r>
          </a:p>
          <a:p>
            <a:r>
              <a:rPr sz="1150">
                <a:solidFill>
                  <a:srgbClr val="FFFFFF"/>
                </a:solidFill>
                <a:latin typeface="Consolas"/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PART 02 · CREWAI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UNITS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104900"/>
            <a:ext cx="11201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A Task is what an Agent is asked to do — Tasks can hand their output to the next one as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409700"/>
            <a:ext cx="3524250" cy="11430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504950"/>
            <a:ext cx="32956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onsola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752600"/>
            <a:ext cx="329565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The instructions — what to do, framed as plainly as possible.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52900" y="1409700"/>
            <a:ext cx="3524250" cy="11430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7200" y="1504950"/>
            <a:ext cx="32956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onsolas"/>
              </a:rPr>
              <a:t>EXPECTED_OUTPUT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7200" y="1752600"/>
            <a:ext cx="329565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What "done" looks like — shapes format, length, and tone of the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0500" y="1409700"/>
            <a:ext cx="3524250" cy="11430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800" y="1504950"/>
            <a:ext cx="32956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onsolas"/>
              </a:rP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800" y="1752600"/>
            <a:ext cx="329565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Other tasks whose output feeds in — how work chains 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2781300"/>
            <a:ext cx="2286000" cy="609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9300" y="2857500"/>
            <a:ext cx="20574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onsolas"/>
              </a:rPr>
              <a:t>TASK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9300" y="3067050"/>
            <a:ext cx="20574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Discover the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7750" y="285750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E9E9E"/>
                </a:solidFill>
                <a:latin typeface="Consolas"/>
              </a:rPr>
              <a:t>context=[Task A]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91000" y="3086100"/>
            <a:ext cx="2476500" cy="0"/>
          </a:xfrm>
          <a:prstGeom prst="line">
            <a:avLst/>
          </a:prstGeom>
          <a:ln w="25400">
            <a:solidFill>
              <a:srgbClr val="9E9E9E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67500" y="2781300"/>
            <a:ext cx="2286000" cy="6096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1800" y="2857500"/>
            <a:ext cx="20574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TASK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1800" y="3067050"/>
            <a:ext cx="20574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Write the answer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5300" y="3619500"/>
            <a:ext cx="11201400" cy="533400"/>
          </a:xfrm>
          <a:prstGeom prst="roundRect">
            <a:avLst/>
          </a:prstGeom>
          <a:solidFill>
            <a:srgbClr val="FAFB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650" y="3733800"/>
            <a:ext cx="109347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85858"/>
                </a:solidFill>
                <a:latin typeface="Calibri"/>
              </a:rPr>
              <a:t>BEST PRACTICE: Keep task descriptions short. The agent's goal + backstory already encode expertise. Tasks define the contract, not the method.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PART 02 · CREWAI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TWO WAYS TO COORDINATE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Crews &amp;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104900"/>
            <a:ext cx="11201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A Crew is Agents + Tasks + a Process. The process decides how work flows between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409700"/>
            <a:ext cx="5295900" cy="28575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15430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onsolas"/>
              </a:rPr>
              <a:t>PROCESS.SEQUENTIAL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177165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Calibri"/>
              </a:rPr>
              <a:t>A fixed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" y="2190750"/>
            <a:ext cx="1104900" cy="3238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225742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D9488"/>
                </a:solidFill>
                <a:latin typeface="Calibri"/>
              </a:rPr>
              <a:t>Agent 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52600" y="2352675"/>
            <a:ext cx="381000" cy="0"/>
          </a:xfrm>
          <a:prstGeom prst="line">
            <a:avLst/>
          </a:prstGeom>
          <a:ln w="25400">
            <a:solidFill>
              <a:srgbClr val="0D948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52650" y="2190750"/>
            <a:ext cx="1104900" cy="3238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8850" y="225742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D9488"/>
                </a:solidFill>
                <a:latin typeface="Calibri"/>
              </a:rPr>
              <a:t>Agent 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76600" y="2352675"/>
            <a:ext cx="381000" cy="0"/>
          </a:xfrm>
          <a:prstGeom prst="line">
            <a:avLst/>
          </a:prstGeom>
          <a:ln w="25400">
            <a:solidFill>
              <a:srgbClr val="0D948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76650" y="2190750"/>
            <a:ext cx="1104900" cy="3238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2850" y="225742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D9488"/>
                </a:solidFill>
                <a:latin typeface="Calibri"/>
              </a:rPr>
              <a:t>Agent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" y="2647950"/>
            <a:ext cx="5029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85858"/>
                </a:solidFill>
                <a:latin typeface="Calibri"/>
              </a:rPr>
              <a:t>Each agent runs its task in order; each can use the ones before it as context. Predictable — no manager needed.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409700"/>
            <a:ext cx="5295900" cy="28575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6950" y="15430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onsolas"/>
              </a:rPr>
              <a:t>PROCESS.HIERARCHICAL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6950" y="177165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Calibri"/>
              </a:rPr>
              <a:t>A manager decides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9050" y="2171700"/>
            <a:ext cx="1905000" cy="32385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5250" y="2238375"/>
            <a:ext cx="17526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Manager LLM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648450" y="2495550"/>
            <a:ext cx="1943100" cy="28575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076950" y="2781300"/>
            <a:ext cx="1143000" cy="285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3150" y="2828925"/>
            <a:ext cx="9906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7C3AED"/>
                </a:solidFill>
                <a:latin typeface="Calibri"/>
              </a:rPr>
              <a:t>Worker 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91550" y="2495550"/>
            <a:ext cx="0" cy="28575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020050" y="2781300"/>
            <a:ext cx="1143000" cy="285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6250" y="2828925"/>
            <a:ext cx="9906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7C3AED"/>
                </a:solidFill>
                <a:latin typeface="Calibri"/>
              </a:rPr>
              <a:t>Worker B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91550" y="2495550"/>
            <a:ext cx="1943100" cy="28575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963150" y="2781300"/>
            <a:ext cx="1143000" cy="285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39350" y="2828925"/>
            <a:ext cx="9906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7C3AED"/>
                </a:solidFill>
                <a:latin typeface="Calibri"/>
              </a:rPr>
              <a:t>Worker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6950" y="3219450"/>
            <a:ext cx="5029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85858"/>
                </a:solidFill>
                <a:latin typeface="Calibri"/>
              </a:rPr>
              <a:t>A manager LLM delegates dynamically — decides who to call, in what order, based on the question itself.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PART 02 · CREWAI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GIVING AGENTS HANDS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Tools, a.k.a.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104900"/>
            <a:ext cx="5143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85858"/>
                </a:solidFill>
                <a:latin typeface="Calibri"/>
              </a:rPr>
              <a:t>A tool is a real Python function the LLM can choose to call — this is 'function calling'. The result comes back as text, and the agent decides what to do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809750"/>
            <a:ext cx="5143500" cy="6858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88595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onsolas"/>
              </a:rPr>
              <a:t>IN OUR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076450"/>
            <a:ext cx="48958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list_tables, describe_table, quick_profile, run_sql_query — four tools that turn a question into a real database query.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0" y="1238250"/>
            <a:ext cx="1905000" cy="66675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14450"/>
            <a:ext cx="167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563EB"/>
                </a:solidFill>
                <a:latin typeface="Calibri"/>
              </a:rPr>
              <a:t>Agent (LLM)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62100"/>
            <a:ext cx="167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Consolas"/>
              </a:rPr>
              <a:t>"I need real data"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500" y="1238250"/>
            <a:ext cx="1905000" cy="66675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7800" y="1314450"/>
            <a:ext cx="167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run_sql_query()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7800" y="1562100"/>
            <a:ext cx="167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  <a:latin typeface="Consolas"/>
              </a:rPr>
              <a:t>real Python code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91500" y="1495425"/>
            <a:ext cx="762000" cy="0"/>
          </a:xfrm>
          <a:prstGeom prst="line">
            <a:avLst/>
          </a:prstGeom>
          <a:ln w="25400">
            <a:solidFill>
              <a:srgbClr val="D97706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48650" y="1304925"/>
            <a:ext cx="6477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E9E9E"/>
                </a:solidFill>
                <a:latin typeface="Consolas"/>
              </a:rPr>
              <a:t>calls tool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8191500" y="1647825"/>
            <a:ext cx="762000" cy="0"/>
          </a:xfrm>
          <a:prstGeom prst="line">
            <a:avLst/>
          </a:prstGeom>
          <a:ln w="25400">
            <a:solidFill>
              <a:srgbClr val="0D948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153400" y="1666875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E9E9E"/>
                </a:solidFill>
                <a:latin typeface="Consolas"/>
              </a:rPr>
              <a:t>returns 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6500" y="2571750"/>
            <a:ext cx="1905000" cy="66675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647950"/>
            <a:ext cx="167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D9488"/>
                </a:solidFill>
                <a:latin typeface="Calibri"/>
              </a:rPr>
              <a:t>Agent decides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95600"/>
            <a:ext cx="167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onsolas"/>
              </a:rPr>
              <a:t>next step or answer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3500" y="2571750"/>
            <a:ext cx="1905000" cy="66675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7800" y="2647950"/>
            <a:ext cx="167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Calibri"/>
              </a:rPr>
              <a:t>The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7800" y="2895600"/>
            <a:ext cx="167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E9E9E"/>
                </a:solidFill>
                <a:latin typeface="Consolas"/>
              </a:rPr>
              <a:t>DuckDB / CSVs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39000" y="1905000"/>
            <a:ext cx="0" cy="66675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906000" y="1905000"/>
            <a:ext cx="0" cy="666750"/>
          </a:xfrm>
          <a:prstGeom prst="line">
            <a:avLst/>
          </a:prstGeom>
          <a:ln w="2540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PART 02 · CREWAI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WHY MEMORY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104900"/>
            <a:ext cx="11201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Without memory, every turn starts from zero — the agent re-explores what it already learned. CrewAI gives you three kinds.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409700"/>
            <a:ext cx="3524250" cy="15240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1500" y="1504950"/>
            <a:ext cx="342900" cy="342900"/>
          </a:xfrm>
          <a:prstGeom prst="ellipse">
            <a:avLst/>
          </a:prstGeom>
          <a:noFill/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1924050"/>
            <a:ext cx="32956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Short-term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209800"/>
            <a:ext cx="32956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85858"/>
                </a:solidFill>
                <a:latin typeface="Calibri"/>
              </a:rPr>
              <a:t>What happened earlier this run — so step 2 remembers step 1's findings.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52900" y="1409700"/>
            <a:ext cx="3524250" cy="15240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29100" y="1504950"/>
            <a:ext cx="342900" cy="342900"/>
          </a:xfrm>
          <a:prstGeom prst="ellipse">
            <a:avLst/>
          </a:prstGeom>
          <a:noFill/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7200" y="1924050"/>
            <a:ext cx="32956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Long-term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2209800"/>
            <a:ext cx="32956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85858"/>
                </a:solidFill>
                <a:latin typeface="Calibri"/>
              </a:rPr>
              <a:t>Persists across runs — lessons and patterns the crew can draw on later.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0500" y="1409700"/>
            <a:ext cx="3524250" cy="1524000"/>
          </a:xfrm>
          <a:prstGeom prst="roundRect">
            <a:avLst/>
          </a:prstGeom>
          <a:solidFill>
            <a:srgbClr val="F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86700" y="1504950"/>
            <a:ext cx="342900" cy="342900"/>
          </a:xfrm>
          <a:prstGeom prst="ellipse">
            <a:avLst/>
          </a:prstGeom>
          <a:noFill/>
          <a:ln w="25400">
            <a:solidFill>
              <a:srgbClr val="E05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800" y="1924050"/>
            <a:ext cx="32956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800" y="2209800"/>
            <a:ext cx="32956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85858"/>
                </a:solidFill>
                <a:latin typeface="Calibri"/>
              </a:rPr>
              <a:t>Facts about specific things — "Product 745", "Mumbai" — tracked over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300" y="3086100"/>
            <a:ext cx="11201400" cy="59055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650" y="318135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onsolas"/>
              </a:rPr>
              <a:t>WHY IT'S HELPFUL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" y="3390900"/>
            <a:ext cx="10934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No cold starts on follow-ups, no repeating the same explanation twice, and answers that can say 'that' and mean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PART 02 · CREWAI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THINKING BEFORE / WHILE ACTING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Planning &amp; Reasoning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300" y="1085850"/>
            <a:ext cx="5295900" cy="2476500"/>
          </a:xfrm>
          <a:prstGeom prst="roundRect">
            <a:avLst/>
          </a:prstGeom>
          <a:solidFill>
            <a:srgbClr val="F3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650" y="12192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onsolas"/>
              </a:rPr>
              <a:t>CREW(PLANNING=TRUE)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14478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Calibri"/>
              </a:rPr>
              <a:t>Plan once, up front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650" y="1847850"/>
            <a:ext cx="1143000" cy="285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95475"/>
            <a:ext cx="10287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onsolas"/>
              </a:rPr>
              <a:t>Question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90700" y="1990725"/>
            <a:ext cx="342900" cy="0"/>
          </a:xfrm>
          <a:prstGeom prst="line">
            <a:avLst/>
          </a:prstGeom>
          <a:ln w="19050">
            <a:solidFill>
              <a:srgbClr val="9E9E9E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52650" y="1847850"/>
            <a:ext cx="1143000" cy="285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09800" y="1895475"/>
            <a:ext cx="10287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onsolas"/>
              </a:rPr>
              <a:t>Planner LLM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4700" y="1990725"/>
            <a:ext cx="342900" cy="0"/>
          </a:xfrm>
          <a:prstGeom prst="line">
            <a:avLst/>
          </a:prstGeom>
          <a:ln w="19050">
            <a:solidFill>
              <a:srgbClr val="9E9E9E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76650" y="1847850"/>
            <a:ext cx="1143000" cy="285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3800" y="1895475"/>
            <a:ext cx="10287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onsolas"/>
              </a:rPr>
              <a:t>Step-by-step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" y="2266950"/>
            <a:ext cx="5029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85858"/>
                </a:solidFill>
                <a:latin typeface="Calibri"/>
              </a:rPr>
              <a:t>Generates a task-execution plan before the crew runs, so each agent knows the whole shape of the job, not just its own step.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085850"/>
            <a:ext cx="5295900" cy="2476500"/>
          </a:xfrm>
          <a:prstGeom prst="roundRect">
            <a:avLst/>
          </a:prstGeom>
          <a:solidFill>
            <a:srgbClr val="EE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6950" y="12192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onsolas"/>
              </a:rPr>
              <a:t>AGENT(REASONING=TRUE)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6950" y="14478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Calibri"/>
              </a:rPr>
              <a:t>Reflect while acting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76950" y="1847850"/>
            <a:ext cx="1143000" cy="285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4100" y="1895475"/>
            <a:ext cx="10287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onsolas"/>
              </a:rPr>
              <a:t>execute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39000" y="1990725"/>
            <a:ext cx="342900" cy="0"/>
          </a:xfrm>
          <a:prstGeom prst="line">
            <a:avLst/>
          </a:prstGeom>
          <a:ln w="19050">
            <a:solidFill>
              <a:srgbClr val="9E9E9E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600950" y="1847850"/>
            <a:ext cx="1143000" cy="285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58100" y="1895475"/>
            <a:ext cx="10287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onsolas"/>
              </a:rPr>
              <a:t>observe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63000" y="1990725"/>
            <a:ext cx="342900" cy="0"/>
          </a:xfrm>
          <a:prstGeom prst="line">
            <a:avLst/>
          </a:prstGeom>
          <a:ln w="19050">
            <a:solidFill>
              <a:srgbClr val="9E9E9E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24950" y="1847850"/>
            <a:ext cx="1143000" cy="285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2100" y="1895475"/>
            <a:ext cx="10287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onsolas"/>
              </a:rPr>
              <a:t>replan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6950" y="2266950"/>
            <a:ext cx="5029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85858"/>
                </a:solidFill>
                <a:latin typeface="Calibri"/>
              </a:rPr>
              <a:t>An extra per-agent loop that checks its own progress and adjusts — powerful, but it runs on its own step budget.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5300" y="3695700"/>
            <a:ext cx="11201400" cy="552450"/>
          </a:xfrm>
          <a:prstGeom prst="roundRect">
            <a:avLst/>
          </a:prstGeom>
          <a:solidFill>
            <a:srgbClr val="F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650" y="3810000"/>
            <a:ext cx="109347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Preview of Part 3: more thinking = more latency. We turned both of these off in most places in our project — more on why later.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PART 02 · CREWAI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GOING MULTI-LEVEL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The Orchestration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104900"/>
            <a:ext cx="11201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A Crew doesn't have to be flat. A manager agent can delegate to OTHER crews — each with its own process, and its own manager.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447800"/>
            <a:ext cx="3048000" cy="4191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6300" y="1543050"/>
            <a:ext cx="28194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Chief Orchestrator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828800" y="1866900"/>
            <a:ext cx="4267200" cy="38100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5300" y="2247900"/>
            <a:ext cx="2667000" cy="4572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2343150"/>
            <a:ext cx="24384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Manager LLM #2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2705100"/>
            <a:ext cx="0" cy="24765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5300" y="2952750"/>
            <a:ext cx="2667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3028950"/>
            <a:ext cx="24384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7C3AED"/>
                </a:solidFill>
                <a:latin typeface="Consolas"/>
              </a:rPr>
              <a:t>Specialist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467100"/>
            <a:ext cx="2438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E9E9E"/>
                </a:solidFill>
                <a:latin typeface="Consolas"/>
              </a:rPr>
              <a:t>hierarchical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715000" y="1866900"/>
            <a:ext cx="381000" cy="38100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81500" y="2247900"/>
            <a:ext cx="2667000" cy="45720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5800" y="2343150"/>
            <a:ext cx="24384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Calibri"/>
              </a:rPr>
              <a:t>Sequential pipeline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15000" y="2705100"/>
            <a:ext cx="0" cy="24765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81500" y="2952750"/>
            <a:ext cx="2667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5800" y="3028950"/>
            <a:ext cx="24384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onsolas"/>
              </a:rPr>
              <a:t>Agent A → Agent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467100"/>
            <a:ext cx="2438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E9E9E"/>
                </a:solidFill>
                <a:latin typeface="Consolas"/>
              </a:rPr>
              <a:t>sequential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6000" y="1866900"/>
            <a:ext cx="4267200" cy="381000"/>
          </a:xfrm>
          <a:prstGeom prst="line">
            <a:avLst/>
          </a:prstGeom>
          <a:ln w="25400">
            <a:solidFill>
              <a:srgbClr val="E05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29700" y="2247900"/>
            <a:ext cx="2667000" cy="457200"/>
          </a:xfrm>
          <a:prstGeom prst="roundRect">
            <a:avLst/>
          </a:prstGeom>
          <a:solidFill>
            <a:srgbClr val="FEE2D5"/>
          </a:solidFill>
          <a:ln w="19050">
            <a:solidFill>
              <a:srgbClr val="E05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343150"/>
            <a:ext cx="24384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05D3C"/>
                </a:solidFill>
                <a:latin typeface="Calibri"/>
              </a:rPr>
              <a:t>Guard-railed loop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363200" y="2705100"/>
            <a:ext cx="0" cy="247650"/>
          </a:xfrm>
          <a:prstGeom prst="line">
            <a:avLst/>
          </a:prstGeom>
          <a:ln w="25400">
            <a:solidFill>
              <a:srgbClr val="E05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29700" y="2952750"/>
            <a:ext cx="2667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5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3028950"/>
            <a:ext cx="24384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05D3C"/>
                </a:solidFill>
                <a:latin typeface="Consolas"/>
              </a:rPr>
              <a:t>Writer ⇄ Critic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467100"/>
            <a:ext cx="2438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E9E9E"/>
                </a:solidFill>
                <a:latin typeface="Consolas"/>
              </a:rPr>
              <a:t>custom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05000" y="3886200"/>
            <a:ext cx="838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E9E9E"/>
                </a:solidFill>
                <a:latin typeface="Consolas"/>
              </a:rPr>
              <a:t>LEVEL 1 (hierarchical)  ·  LEVEL 2 (mix of hierarchical, sequential, and custom loop)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29750" y="-1905000"/>
            <a:ext cx="3810000" cy="3810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63000" y="4953000"/>
            <a:ext cx="3048000" cy="30480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PART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AGENDA ITEM 3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" y="381000"/>
            <a:ext cx="9525000" cy="361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0" b="1" i="0">
                <a:solidFill>
                  <a:srgbClr val="5EEAD4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" y="3143250"/>
            <a:ext cx="95250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1A1A1A"/>
                </a:solidFill>
                <a:latin typeface="Calibri"/>
              </a:rPr>
              <a:t>Our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" y="3867150"/>
            <a:ext cx="7810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85858"/>
                </a:solidFill>
                <a:latin typeface="Calibri"/>
              </a:rPr>
              <a:t>A working multi-level analytics chatbot — every concept from Part 2, applied, plus the guard rails and lessons that came from real testing.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PART 03 · 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The Analytics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104900"/>
            <a:ext cx="11201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A natural-language interface over a DuckDB dataset — ask any question, get a grounded analyst-style answer. Built to showcase every CrewAI concept.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409700"/>
            <a:ext cx="2628900" cy="7239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504950"/>
            <a:ext cx="24003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OpenAI SDK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771650"/>
            <a:ext cx="24003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No litellm — direct endpoint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600" y="1409700"/>
            <a:ext cx="2628900" cy="7239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0900" y="1504950"/>
            <a:ext cx="24003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3 env vars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0900" y="1771650"/>
            <a:ext cx="24003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LLM_BASE_URL / KEY /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7900" y="1409700"/>
            <a:ext cx="2628900" cy="7239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504950"/>
            <a:ext cx="24003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Dynamic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71650"/>
            <a:ext cx="24003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Drop a CSV → auto-discovered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9200" y="1409700"/>
            <a:ext cx="2628900" cy="723900"/>
          </a:xfrm>
          <a:prstGeom prst="roundRect">
            <a:avLst/>
          </a:prstGeom>
          <a:solidFill>
            <a:srgbClr val="F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500" y="1504950"/>
            <a:ext cx="24003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5D3C"/>
                </a:solidFill>
                <a:latin typeface="Calibri"/>
              </a:rPr>
              <a:t>SSE streaming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0" y="1771650"/>
            <a:ext cx="24003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Live token stream to the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300" y="230505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onsolas"/>
              </a:rPr>
              <a:t>STACK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5300" y="2495550"/>
            <a:ext cx="990600" cy="2667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550" y="2543175"/>
            <a:ext cx="800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CrewAI 1.x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62100" y="2495550"/>
            <a:ext cx="990600" cy="2667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57350" y="2543175"/>
            <a:ext cx="800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OpenAI SDK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28900" y="2495550"/>
            <a:ext cx="1219200" cy="2667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24150" y="2543175"/>
            <a:ext cx="10287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FastAPI + SSE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24300" y="2495550"/>
            <a:ext cx="914400" cy="2667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19550" y="2543175"/>
            <a:ext cx="723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Streamlit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14900" y="2495550"/>
            <a:ext cx="685800" cy="2667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0150" y="2543175"/>
            <a:ext cx="4953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DuckDB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900" y="2495550"/>
            <a:ext cx="1066800" cy="2667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72150" y="2543175"/>
            <a:ext cx="8763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Python 3.12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19900" y="2495550"/>
            <a:ext cx="381000" cy="2667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15150" y="2543175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uv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300" y="297180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onsolas"/>
              </a:rPr>
              <a:t>AGENT TIERS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5300" y="3200400"/>
            <a:ext cx="3429000" cy="6858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650" y="3295650"/>
            <a:ext cx="31623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Tier 1 · Chitchat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650" y="3562350"/>
            <a:ext cx="31623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Conversational, no DB access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76700" y="3200400"/>
            <a:ext cx="3429000" cy="6858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10050" y="3295650"/>
            <a:ext cx="31623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Tier 2 · Fast Analyst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10050" y="3562350"/>
            <a:ext cx="31623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Single-agent SQL path, 5–10s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58100" y="3200400"/>
            <a:ext cx="3429000" cy="685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91450" y="3295650"/>
            <a:ext cx="31623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Tier 3 · Deep Mode Crew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1450" y="3562350"/>
            <a:ext cx="31623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Multi-level hierarchical crew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PART 03 · 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How the pieces 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300" y="1143000"/>
            <a:ext cx="11201400" cy="6477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650" y="121920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onsola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1447800"/>
            <a:ext cx="109347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Streamlit chat UI  ·  session_id  ·  SSE consumer  ·  live trace + answer bubble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790700"/>
            <a:ext cx="0" cy="114300"/>
          </a:xfrm>
          <a:prstGeom prst="line">
            <a:avLst/>
          </a:prstGeom>
          <a:ln w="25400">
            <a:solidFill>
              <a:srgbClr val="9E9E9E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5300" y="1943100"/>
            <a:ext cx="11201400" cy="6477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650" y="201930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" y="2247900"/>
            <a:ext cx="109347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FastAPI  ·  POST /chat/stream  ·  sse-starlette  ·  asyncio queue per request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2590800"/>
            <a:ext cx="0" cy="114300"/>
          </a:xfrm>
          <a:prstGeom prst="line">
            <a:avLst/>
          </a:prstGeom>
          <a:ln w="25400">
            <a:solidFill>
              <a:srgbClr val="9E9E9E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5300" y="2743200"/>
            <a:ext cx="11201400" cy="6477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650" y="281940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" y="3048000"/>
            <a:ext cx="109347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OrchestratorService  ·  intent router (chitchat / fast-analyst / deep-mode)  ·  session turn history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3390900"/>
            <a:ext cx="0" cy="114300"/>
          </a:xfrm>
          <a:prstGeom prst="line">
            <a:avLst/>
          </a:prstGeom>
          <a:ln w="25400">
            <a:solidFill>
              <a:srgbClr val="9E9E9E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95300" y="3543300"/>
            <a:ext cx="11201400" cy="647700"/>
          </a:xfrm>
          <a:prstGeom prst="roundRect">
            <a:avLst/>
          </a:prstGeom>
          <a:solidFill>
            <a:srgbClr val="F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650" y="361950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5D3C"/>
                </a:solidFill>
                <a:latin typeface="Consolas"/>
              </a:rPr>
              <a:t>CREW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" y="3848100"/>
            <a:ext cx="109347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Level-1 hierarchical crew  ·  3 domain managers  ·  Level-2 sub-crews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0" y="4191000"/>
            <a:ext cx="0" cy="114300"/>
          </a:xfrm>
          <a:prstGeom prst="line">
            <a:avLst/>
          </a:prstGeom>
          <a:ln w="25400">
            <a:solidFill>
              <a:srgbClr val="9E9E9E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95300" y="4343400"/>
            <a:ext cx="11201400" cy="6477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650" y="441960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onsolas"/>
              </a:rPr>
              <a:t>DATA &amp;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" y="4648200"/>
            <a:ext cx="109347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DuckDB  ·  dynamic CSV catalog  ·  list_tables / describe_table / run_sql_query / quick_profile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5300" y="5143500"/>
            <a:ext cx="5334000" cy="47625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5257800"/>
            <a:ext cx="50482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D9488"/>
                </a:solidFill>
                <a:latin typeface="Consolas"/>
              </a:rPr>
              <a:t>SSE EVENTS: token | status | tool | final | error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1700" y="5143500"/>
            <a:ext cx="5715000" cy="47625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15050" y="5257800"/>
            <a:ext cx="54292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Consolas"/>
              </a:rPr>
              <a:t>MEMORY: isolated per session via CREWAI_STORAGE_DIR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PART 03 · 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TWO OPERATING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Fast Path vs. Deep Mode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300" y="1104900"/>
            <a:ext cx="5276850" cy="40386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650" y="1238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onsolas"/>
              </a:rPr>
              <a:t>FAST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146685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Single-agent SQL lane</a:t>
            </a:r>
          </a:p>
        </p:txBody>
      </p:sp>
      <p:sp>
        <p:nvSpPr>
          <p:cNvPr id="9" name="Oval 8"/>
          <p:cNvSpPr/>
          <p:nvPr/>
        </p:nvSpPr>
        <p:spPr>
          <a:xfrm>
            <a:off x="638175" y="1880473"/>
            <a:ext cx="76200" cy="76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050" y="1847850"/>
            <a:ext cx="109156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One Fast Analyst agent — no crew overhead</a:t>
            </a:r>
          </a:p>
        </p:txBody>
      </p:sp>
      <p:sp>
        <p:nvSpPr>
          <p:cNvPr id="11" name="Oval 10"/>
          <p:cNvSpPr/>
          <p:nvPr/>
        </p:nvSpPr>
        <p:spPr>
          <a:xfrm>
            <a:off x="638175" y="2166223"/>
            <a:ext cx="76200" cy="76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050" y="2133600"/>
            <a:ext cx="109156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Direct SQL: list_tables → describe → run_sql_query</a:t>
            </a:r>
          </a:p>
        </p:txBody>
      </p:sp>
      <p:sp>
        <p:nvSpPr>
          <p:cNvPr id="13" name="Oval 12"/>
          <p:cNvSpPr/>
          <p:nvPr/>
        </p:nvSpPr>
        <p:spPr>
          <a:xfrm>
            <a:off x="638175" y="2451973"/>
            <a:ext cx="76200" cy="76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050" y="2419350"/>
            <a:ext cx="109156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Answers in ~5–10 seconds</a:t>
            </a:r>
          </a:p>
        </p:txBody>
      </p:sp>
      <p:sp>
        <p:nvSpPr>
          <p:cNvPr id="15" name="Oval 14"/>
          <p:cNvSpPr/>
          <p:nvPr/>
        </p:nvSpPr>
        <p:spPr>
          <a:xfrm>
            <a:off x="638175" y="2737723"/>
            <a:ext cx="76200" cy="76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050" y="2705100"/>
            <a:ext cx="109156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Session turn history for follow-up awareness</a:t>
            </a:r>
          </a:p>
        </p:txBody>
      </p:sp>
      <p:sp>
        <p:nvSpPr>
          <p:cNvPr id="17" name="Oval 16"/>
          <p:cNvSpPr/>
          <p:nvPr/>
        </p:nvSpPr>
        <p:spPr>
          <a:xfrm>
            <a:off x="638175" y="3023473"/>
            <a:ext cx="76200" cy="76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050" y="2990850"/>
            <a:ext cx="109156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Best for: direct data questions, follow-ups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" y="3238500"/>
            <a:ext cx="5010150" cy="3429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950" y="3314700"/>
            <a:ext cx="4781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onsolas"/>
              </a:rPr>
              <a:t>Router keyword → fast-analyst → Task.kickoff() → stream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4550" y="1104900"/>
            <a:ext cx="5276850" cy="4038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7900" y="1238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onsolas"/>
              </a:rPr>
              <a:t>DEEP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7900" y="146685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Multi-level hierarchical crew</a:t>
            </a:r>
          </a:p>
        </p:txBody>
      </p:sp>
      <p:sp>
        <p:nvSpPr>
          <p:cNvPr id="24" name="Oval 23"/>
          <p:cNvSpPr/>
          <p:nvPr/>
        </p:nvSpPr>
        <p:spPr>
          <a:xfrm>
            <a:off x="6067425" y="1880473"/>
            <a:ext cx="76200" cy="76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0300" y="1847850"/>
            <a:ext cx="54864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Chief Orchestrator → 3 Domain Managers</a:t>
            </a:r>
          </a:p>
        </p:txBody>
      </p:sp>
      <p:sp>
        <p:nvSpPr>
          <p:cNvPr id="26" name="Oval 25"/>
          <p:cNvSpPr/>
          <p:nvPr/>
        </p:nvSpPr>
        <p:spPr>
          <a:xfrm>
            <a:off x="6067425" y="2166223"/>
            <a:ext cx="76200" cy="76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0300" y="2133600"/>
            <a:ext cx="54864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Each manager runs its own Level-2 sub-crew</a:t>
            </a:r>
          </a:p>
        </p:txBody>
      </p:sp>
      <p:sp>
        <p:nvSpPr>
          <p:cNvPr id="28" name="Oval 27"/>
          <p:cNvSpPr/>
          <p:nvPr/>
        </p:nvSpPr>
        <p:spPr>
          <a:xfrm>
            <a:off x="6067425" y="2451973"/>
            <a:ext cx="76200" cy="76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0300" y="2419350"/>
            <a:ext cx="54864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Hierarchical + sequential + critique loop</a:t>
            </a:r>
          </a:p>
        </p:txBody>
      </p:sp>
      <p:sp>
        <p:nvSpPr>
          <p:cNvPr id="30" name="Oval 29"/>
          <p:cNvSpPr/>
          <p:nvPr/>
        </p:nvSpPr>
        <p:spPr>
          <a:xfrm>
            <a:off x="6067425" y="2737723"/>
            <a:ext cx="76200" cy="76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0300" y="2705100"/>
            <a:ext cx="54864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Quant | Discovery | Insight &amp; Reporting</a:t>
            </a:r>
          </a:p>
        </p:txBody>
      </p:sp>
      <p:sp>
        <p:nvSpPr>
          <p:cNvPr id="32" name="Oval 31"/>
          <p:cNvSpPr/>
          <p:nvPr/>
        </p:nvSpPr>
        <p:spPr>
          <a:xfrm>
            <a:off x="6067425" y="3023473"/>
            <a:ext cx="76200" cy="76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0300" y="2990850"/>
            <a:ext cx="54864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Best for: complex multi-part analysis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57900" y="3238500"/>
            <a:ext cx="5010150" cy="3429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14700"/>
            <a:ext cx="4781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C3AED"/>
                </a:solidFill>
                <a:latin typeface="Consolas"/>
              </a:rPr>
              <a:t>Router → orchestrator crew kickoff → SSE events stream live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PART 03 · 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FAST PATH IN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Fast Path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104900"/>
            <a:ext cx="11201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The router classifies the message, then the matching lane handles it — no crew overhead for simple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62500" y="1428750"/>
            <a:ext cx="2667000" cy="43815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800" y="1524000"/>
            <a:ext cx="24384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Intent Router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114550" y="1866900"/>
            <a:ext cx="3981450" cy="43815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5300" y="2305050"/>
            <a:ext cx="3238500" cy="4953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2343150"/>
            <a:ext cx="30099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7C3AED"/>
                </a:solidFill>
                <a:latin typeface="Calibri"/>
              </a:rPr>
              <a:t>Chitchat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571750"/>
            <a:ext cx="3009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7C3AED"/>
                </a:solidFill>
                <a:latin typeface="Consolas"/>
              </a:rPr>
              <a:t>(no data)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14550" y="2800350"/>
            <a:ext cx="0" cy="45720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5300" y="3257550"/>
            <a:ext cx="3238500" cy="4953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3295650"/>
            <a:ext cx="30099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1A1A"/>
                </a:solidFill>
                <a:latin typeface="Calibri"/>
              </a:rPr>
              <a:t>Conversational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486150"/>
            <a:ext cx="30099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85858"/>
                </a:solidFill>
                <a:latin typeface="Consolas"/>
              </a:rPr>
              <a:t>with turn history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000750" y="1866900"/>
            <a:ext cx="95250" cy="43815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81500" y="2305050"/>
            <a:ext cx="3238500" cy="49530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5800" y="2343150"/>
            <a:ext cx="30099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D9488"/>
                </a:solidFill>
                <a:latin typeface="Calibri"/>
              </a:rPr>
              <a:t>Fast Analyst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5800" y="2571750"/>
            <a:ext cx="3009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D9488"/>
                </a:solidFill>
                <a:latin typeface="Consolas"/>
              </a:rPr>
              <a:t>(SQL question)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00750" y="2800350"/>
            <a:ext cx="0" cy="45720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81500" y="3257550"/>
            <a:ext cx="3238500" cy="4953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5800" y="3295650"/>
            <a:ext cx="30099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1A1A"/>
                </a:solidFill>
                <a:latin typeface="Calibri"/>
              </a:rPr>
              <a:t>Single agent +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5800" y="3486150"/>
            <a:ext cx="30099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85858"/>
                </a:solidFill>
                <a:latin typeface="Consolas"/>
              </a:rPr>
              <a:t>SQL → analyst answer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0" y="1866900"/>
            <a:ext cx="3714750" cy="438150"/>
          </a:xfrm>
          <a:prstGeom prst="line">
            <a:avLst/>
          </a:prstGeom>
          <a:ln w="25400">
            <a:solidFill>
              <a:srgbClr val="E05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91500" y="2305050"/>
            <a:ext cx="3238500" cy="495300"/>
          </a:xfrm>
          <a:prstGeom prst="roundRect">
            <a:avLst/>
          </a:prstGeom>
          <a:solidFill>
            <a:srgbClr val="FEE2D5"/>
          </a:solidFill>
          <a:ln w="19050">
            <a:solidFill>
              <a:srgbClr val="E05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5800" y="2343150"/>
            <a:ext cx="30099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E05D3C"/>
                </a:solidFill>
                <a:latin typeface="Calibri"/>
              </a:rPr>
              <a:t>Deep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800" y="2571750"/>
            <a:ext cx="3009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05D3C"/>
                </a:solidFill>
                <a:latin typeface="Consolas"/>
              </a:rPr>
              <a:t>(complex / unknown)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10750" y="2800350"/>
            <a:ext cx="0" cy="457200"/>
          </a:xfrm>
          <a:prstGeom prst="line">
            <a:avLst/>
          </a:prstGeom>
          <a:ln w="25400">
            <a:solidFill>
              <a:srgbClr val="E05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91500" y="3257550"/>
            <a:ext cx="3238500" cy="4953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5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5800" y="3295650"/>
            <a:ext cx="30099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1A1A"/>
                </a:solidFill>
                <a:latin typeface="Calibri"/>
              </a:rPr>
              <a:t>Full hierarchical crew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5800" y="3486150"/>
            <a:ext cx="30099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85858"/>
                </a:solidFill>
                <a:latin typeface="Consolas"/>
              </a:rPr>
              <a:t>2-level orchestration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6000" y="3752850"/>
            <a:ext cx="0" cy="266700"/>
          </a:xfrm>
          <a:prstGeom prst="line">
            <a:avLst/>
          </a:prstGeom>
          <a:ln w="25400">
            <a:solidFill>
              <a:srgbClr val="9E9E9E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857500" y="4019550"/>
            <a:ext cx="6477000" cy="457200"/>
          </a:xfrm>
          <a:prstGeom prst="roundRect">
            <a:avLst/>
          </a:prstGeom>
          <a:solidFill>
            <a:srgbClr val="FAFB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48000" y="4133850"/>
            <a:ext cx="60960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85858"/>
                </a:solidFill>
                <a:latin typeface="Consolas"/>
              </a:rPr>
              <a:t>SSE stream → token | status | tool | final events → Streamlit UI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PART 03 · 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DEEP MODE IN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Deep Mode: Multi-Level Crew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104900"/>
            <a:ext cx="11201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Two-level orchestration: the Chief delegates to domain managers, each running their own sub-crew.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91000" y="1409700"/>
            <a:ext cx="3810000" cy="4191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05300" y="1504950"/>
            <a:ext cx="35814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LEVEL 1  ·  Chief Orchestrator (hierarchical)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066925" y="1828800"/>
            <a:ext cx="4029075" cy="47625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5300" y="2305050"/>
            <a:ext cx="3143250" cy="4572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2343150"/>
            <a:ext cx="29146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  <a:latin typeface="Calibri"/>
              </a:rPr>
              <a:t>Quantitative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533650"/>
            <a:ext cx="29146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563EB"/>
                </a:solidFill>
                <a:latin typeface="Consolas"/>
              </a:rPr>
              <a:t>Analysis Manager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66925" y="2762250"/>
            <a:ext cx="0" cy="1905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5300" y="2952750"/>
            <a:ext cx="3143250" cy="857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0075" y="3038475"/>
            <a:ext cx="57150" cy="571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900" y="2990850"/>
            <a:ext cx="2800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Hierarchical sub-crew</a:t>
            </a:r>
          </a:p>
        </p:txBody>
      </p:sp>
      <p:sp>
        <p:nvSpPr>
          <p:cNvPr id="17" name="Oval 16"/>
          <p:cNvSpPr/>
          <p:nvPr/>
        </p:nvSpPr>
        <p:spPr>
          <a:xfrm>
            <a:off x="600075" y="3267075"/>
            <a:ext cx="57150" cy="571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900" y="3219450"/>
            <a:ext cx="2800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Data Analyst specialist</a:t>
            </a:r>
          </a:p>
        </p:txBody>
      </p:sp>
      <p:sp>
        <p:nvSpPr>
          <p:cNvPr id="19" name="Oval 18"/>
          <p:cNvSpPr/>
          <p:nvPr/>
        </p:nvSpPr>
        <p:spPr>
          <a:xfrm>
            <a:off x="600075" y="3495675"/>
            <a:ext cx="57150" cy="571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3448050"/>
            <a:ext cx="2800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SQL tools: schema + queries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0" y="1828800"/>
            <a:ext cx="0" cy="47625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24375" y="2305050"/>
            <a:ext cx="3143250" cy="45720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8675" y="2343150"/>
            <a:ext cx="29146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8675" y="2533650"/>
            <a:ext cx="29146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Consolas"/>
              </a:rPr>
              <a:t>Discovery Manager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0" y="2762250"/>
            <a:ext cx="0" cy="19050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24375" y="2952750"/>
            <a:ext cx="3143250" cy="857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29150" y="3038475"/>
            <a:ext cx="57150" cy="5715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2975" y="2990850"/>
            <a:ext cx="2800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Hierarchical sub-crew</a:t>
            </a:r>
          </a:p>
        </p:txBody>
      </p:sp>
      <p:sp>
        <p:nvSpPr>
          <p:cNvPr id="29" name="Oval 28"/>
          <p:cNvSpPr/>
          <p:nvPr/>
        </p:nvSpPr>
        <p:spPr>
          <a:xfrm>
            <a:off x="4629150" y="3267075"/>
            <a:ext cx="57150" cy="5715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2975" y="3219450"/>
            <a:ext cx="2800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Schema Explorer specialist</a:t>
            </a:r>
          </a:p>
        </p:txBody>
      </p:sp>
      <p:sp>
        <p:nvSpPr>
          <p:cNvPr id="31" name="Oval 30"/>
          <p:cNvSpPr/>
          <p:nvPr/>
        </p:nvSpPr>
        <p:spPr>
          <a:xfrm>
            <a:off x="4629150" y="3495675"/>
            <a:ext cx="57150" cy="5715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2975" y="3448050"/>
            <a:ext cx="2800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schema / profiling tools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6000" y="1828800"/>
            <a:ext cx="4029075" cy="476250"/>
          </a:xfrm>
          <a:prstGeom prst="line">
            <a:avLst/>
          </a:prstGeom>
          <a:ln w="25400">
            <a:solidFill>
              <a:srgbClr val="E05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553450" y="2305050"/>
            <a:ext cx="3143250" cy="457200"/>
          </a:xfrm>
          <a:prstGeom prst="roundRect">
            <a:avLst/>
          </a:prstGeom>
          <a:solidFill>
            <a:srgbClr val="FEE2D5"/>
          </a:solidFill>
          <a:ln w="19050">
            <a:solidFill>
              <a:srgbClr val="E05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67750" y="2343150"/>
            <a:ext cx="29146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05D3C"/>
                </a:solidFill>
                <a:latin typeface="Calibri"/>
              </a:rPr>
              <a:t>Insight &amp;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7750" y="2533650"/>
            <a:ext cx="29146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05D3C"/>
                </a:solidFill>
                <a:latin typeface="Consolas"/>
              </a:rPr>
              <a:t>Reporting Manager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125075" y="2762250"/>
            <a:ext cx="0" cy="190500"/>
          </a:xfrm>
          <a:prstGeom prst="line">
            <a:avLst/>
          </a:prstGeom>
          <a:ln w="25400">
            <a:solidFill>
              <a:srgbClr val="E05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3450" y="2952750"/>
            <a:ext cx="3143250" cy="857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5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58225" y="3038475"/>
            <a:ext cx="57150" cy="57150"/>
          </a:xfrm>
          <a:prstGeom prst="ellipse">
            <a:avLst/>
          </a:prstGeom>
          <a:solidFill>
            <a:srgbClr val="E05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82050" y="2990850"/>
            <a:ext cx="2800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Sequential sub-crew</a:t>
            </a:r>
          </a:p>
        </p:txBody>
      </p:sp>
      <p:sp>
        <p:nvSpPr>
          <p:cNvPr id="41" name="Oval 40"/>
          <p:cNvSpPr/>
          <p:nvPr/>
        </p:nvSpPr>
        <p:spPr>
          <a:xfrm>
            <a:off x="8658225" y="3267075"/>
            <a:ext cx="57150" cy="57150"/>
          </a:xfrm>
          <a:prstGeom prst="ellipse">
            <a:avLst/>
          </a:prstGeom>
          <a:solidFill>
            <a:srgbClr val="E05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82050" y="3219450"/>
            <a:ext cx="2800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Analyst Writer → Critic</a:t>
            </a:r>
          </a:p>
        </p:txBody>
      </p:sp>
      <p:sp>
        <p:nvSpPr>
          <p:cNvPr id="43" name="Oval 42"/>
          <p:cNvSpPr/>
          <p:nvPr/>
        </p:nvSpPr>
        <p:spPr>
          <a:xfrm>
            <a:off x="8658225" y="3495675"/>
            <a:ext cx="57150" cy="57150"/>
          </a:xfrm>
          <a:prstGeom prst="ellipse">
            <a:avLst/>
          </a:prstGeom>
          <a:solidFill>
            <a:srgbClr val="E05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82050" y="3448050"/>
            <a:ext cx="2800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guard-rail + critique loop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05000" y="4152900"/>
            <a:ext cx="838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E9E9E"/>
                </a:solidFill>
                <a:latin typeface="Consolas"/>
              </a:rPr>
              <a:t>LEVEL 2  ·  each manager runs its own sub-crew independently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PART 03 · 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TOOLS &amp; MEMORY IN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Skills &amp;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10490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onsolas"/>
              </a:rPr>
              <a:t>THE FOUR TOOLS (ALL SCHEMA-AGNOSTIC)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314450"/>
            <a:ext cx="2095500" cy="32385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381125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9488"/>
                </a:solidFill>
                <a:latin typeface="Consolas"/>
              </a:rPr>
              <a:t>list_tables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4150" y="1381125"/>
            <a:ext cx="92011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85858"/>
                </a:solidFill>
                <a:latin typeface="Calibri"/>
              </a:rPr>
              <a:t>Lists all CSVs in data/ with row counts. Auto-discovers new files at call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300" y="1733550"/>
            <a:ext cx="2095500" cy="32385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0550" y="1800225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Consolas"/>
              </a:rPr>
              <a:t>describe_table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150" y="1800225"/>
            <a:ext cx="92011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85858"/>
                </a:solidFill>
                <a:latin typeface="Calibri"/>
              </a:rPr>
              <a:t>Column names, types, and sample rows for a given 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300" y="2152650"/>
            <a:ext cx="2095500" cy="32385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550" y="2219325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7C3AED"/>
                </a:solidFill>
                <a:latin typeface="Consolas"/>
              </a:rPr>
              <a:t>run_sql_query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150" y="2219325"/>
            <a:ext cx="92011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85858"/>
                </a:solidFill>
                <a:latin typeface="Calibri"/>
              </a:rPr>
              <a:t>Executes SELECT-only DuckDB SQL. Returns rows as JSON. Validated before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300" y="2571750"/>
            <a:ext cx="2095500" cy="32385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550" y="2638425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  <a:latin typeface="Consolas"/>
              </a:rPr>
              <a:t>quick_profile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150" y="2638425"/>
            <a:ext cx="92011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85858"/>
                </a:solidFill>
                <a:latin typeface="Calibri"/>
              </a:rPr>
              <a:t>Numeric/categorical summary stats — min, max, avg, top values.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5300" y="3067050"/>
            <a:ext cx="112014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5300" y="32004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onsolas"/>
              </a:rPr>
              <a:t>MEMORY CONFIGURATION IN OUR PROJECT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300" y="3429000"/>
            <a:ext cx="3524250" cy="74295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3524250"/>
            <a:ext cx="32956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7C3AED"/>
                </a:solidFill>
                <a:latin typeface="Consolas"/>
              </a:rPr>
              <a:t>memory=True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3771900"/>
            <a:ext cx="32956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85858"/>
                </a:solidFill>
                <a:latin typeface="Calibri"/>
              </a:rPr>
              <a:t>Short, long &amp; entity memory on every crew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52900" y="3429000"/>
            <a:ext cx="3524250" cy="74295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67200" y="3524250"/>
            <a:ext cx="32956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D9488"/>
                </a:solidFill>
                <a:latin typeface="Consolas"/>
              </a:rPr>
              <a:t>Local embedder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7200" y="3771900"/>
            <a:ext cx="32956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85858"/>
                </a:solidFill>
                <a:latin typeface="Calibri"/>
              </a:rPr>
              <a:t>ChromaDB DefaultEmbeddingFunction — no API key needed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0500" y="3429000"/>
            <a:ext cx="3524250" cy="742950"/>
          </a:xfrm>
          <a:prstGeom prst="roundRect">
            <a:avLst/>
          </a:prstGeom>
          <a:solidFill>
            <a:srgbClr val="F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4800" y="3524250"/>
            <a:ext cx="32956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05D3C"/>
                </a:solidFill>
                <a:latin typeface="Consolas"/>
              </a:rPr>
              <a:t>Session isolation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4800" y="3771900"/>
            <a:ext cx="32956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85858"/>
                </a:solidFill>
                <a:latin typeface="Calibri"/>
              </a:rPr>
              <a:t>CREWAI_STORAGE_DIR per session_id — no cross-user bleed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PART 03 · 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GROUNDED ANSWER GUARANTEE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The Critique &amp; Guard-Rail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104900"/>
            <a:ext cx="11201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85858"/>
                </a:solidFill>
                <a:latin typeface="Calibri"/>
              </a:rPr>
              <a:t>Guards run first (deterministic, free). LLM critic only if guards pass. Capped at 3 iterations. Last draft is the safety 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7750" y="1409700"/>
            <a:ext cx="2438400" cy="10287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85900"/>
            <a:ext cx="2247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D9488"/>
                </a:solidFill>
                <a:latin typeface="Calibri"/>
              </a:rPr>
              <a:t>1. Analyst Writer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95450"/>
            <a:ext cx="2247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9488"/>
                </a:solidFill>
                <a:latin typeface="Consolas"/>
              </a:rPr>
              <a:t>drafts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24050"/>
            <a:ext cx="2247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Grounds in actual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95500"/>
            <a:ext cx="2247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results from the run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05200" y="1924050"/>
            <a:ext cx="95250" cy="0"/>
          </a:xfrm>
          <a:prstGeom prst="line">
            <a:avLst/>
          </a:prstGeom>
          <a:ln w="25400">
            <a:solidFill>
              <a:srgbClr val="0D948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00450" y="1409700"/>
            <a:ext cx="2438400" cy="10287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5700" y="1485900"/>
            <a:ext cx="2247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D97706"/>
                </a:solidFill>
                <a:latin typeface="Calibri"/>
              </a:rPr>
              <a:t>2. Numeric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5700" y="1695450"/>
            <a:ext cx="2247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D97706"/>
                </a:solidFill>
                <a:latin typeface="Consolas"/>
              </a:rPr>
              <a:t>(deterministic)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5700" y="1924050"/>
            <a:ext cx="2247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Every number must appear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5700" y="2095500"/>
            <a:ext cx="2247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in query-result evidence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57900" y="1924050"/>
            <a:ext cx="95250" cy="0"/>
          </a:xfrm>
          <a:prstGeom prst="line">
            <a:avLst/>
          </a:prstGeom>
          <a:ln w="25400">
            <a:solidFill>
              <a:srgbClr val="D97706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53150" y="1409700"/>
            <a:ext cx="2438400" cy="10287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8400" y="1485900"/>
            <a:ext cx="2247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D97706"/>
                </a:solidFill>
                <a:latin typeface="Calibri"/>
              </a:rPr>
              <a:t>3. Schema Guard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8400" y="1695450"/>
            <a:ext cx="2247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D97706"/>
                </a:solidFill>
                <a:latin typeface="Consolas"/>
              </a:rPr>
              <a:t>(deterministic)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8400" y="1924050"/>
            <a:ext cx="2247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Table/column names must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8400" y="2095500"/>
            <a:ext cx="2247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exist in DataCatalog.schema()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10600" y="1924050"/>
            <a:ext cx="95250" cy="0"/>
          </a:xfrm>
          <a:prstGeom prst="line">
            <a:avLst/>
          </a:prstGeom>
          <a:ln w="25400">
            <a:solidFill>
              <a:srgbClr val="D97706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705850" y="1409700"/>
            <a:ext cx="2438400" cy="10287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01100" y="1485900"/>
            <a:ext cx="2247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D97706"/>
                </a:solidFill>
                <a:latin typeface="Calibri"/>
              </a:rPr>
              <a:t>4. Citation Guard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1100" y="1695450"/>
            <a:ext cx="2247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D97706"/>
                </a:solidFill>
                <a:latin typeface="Consolas"/>
              </a:rPr>
              <a:t>(deterministic)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1100" y="1924050"/>
            <a:ext cx="2247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Draft must reference the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1100" y="2095500"/>
            <a:ext cx="2247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alibri"/>
              </a:rPr>
              <a:t>SQL query it is based 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258050" y="2438400"/>
            <a:ext cx="0" cy="209550"/>
          </a:xfrm>
          <a:prstGeom prst="line">
            <a:avLst/>
          </a:prstGeom>
          <a:ln w="25400">
            <a:solidFill>
              <a:srgbClr val="7C3AED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952750" y="2647950"/>
            <a:ext cx="6286500" cy="85725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86100" y="2743200"/>
            <a:ext cx="60198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5. Report Critic (LLM — only reached if all guards pass)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6100" y="3028950"/>
            <a:ext cx="60198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Returns { "accept": bool, "notes": str } — judges clarity and completeness.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86100" y="3238500"/>
            <a:ext cx="60198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Consolas"/>
              </a:rPr>
              <a:t>On failure: notes fed back into Writer for revision (max 3 iterations total).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5300" y="3676650"/>
            <a:ext cx="11201400" cy="533400"/>
          </a:xfrm>
          <a:prstGeom prst="roundRect">
            <a:avLst/>
          </a:prstGeom>
          <a:solidFill>
            <a:srgbClr val="F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650" y="3810000"/>
            <a:ext cx="109347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FAIL-OPEN: If the loop never converges in 3 iterations, the last draft is returned as-is — the user always gets an answer, never a crash.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29750" y="-1905000"/>
            <a:ext cx="3810000" cy="3810000"/>
          </a:xfrm>
          <a:prstGeom prst="ellipse">
            <a:avLst/>
          </a:prstGeom>
          <a:solidFill>
            <a:srgbClr val="F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63000" y="4953000"/>
            <a:ext cx="3048000" cy="30480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F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5D3C"/>
                </a:solidFill>
                <a:latin typeface="Consolas"/>
              </a:rPr>
              <a:t>PART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AGENDA ITEM 4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" y="381000"/>
            <a:ext cx="9525000" cy="361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0" b="1" i="0">
                <a:solidFill>
                  <a:srgbClr val="FEE2D5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" y="3143250"/>
            <a:ext cx="95250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1A1A1A"/>
                </a:solidFill>
                <a:latin typeface="Calibri"/>
              </a:rPr>
              <a:t>Demo &amp; Wrap-up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" y="3867150"/>
            <a:ext cx="7810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85858"/>
                </a:solidFill>
                <a:latin typeface="Calibri"/>
              </a:rPr>
              <a:t>Live demo of the analytics chatbot, key takeaways, and resources to keep going.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F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5D3C"/>
                </a:solidFill>
                <a:latin typeface="Consolas"/>
              </a:rPr>
              <a:t>PART 04 · DEMO &amp;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Live Demo</a:t>
            </a:r>
          </a:p>
        </p:txBody>
      </p:sp>
      <p:sp>
        <p:nvSpPr>
          <p:cNvPr id="6" name="Oval 5"/>
          <p:cNvSpPr/>
          <p:nvPr/>
        </p:nvSpPr>
        <p:spPr>
          <a:xfrm>
            <a:off x="7334250" y="1809750"/>
            <a:ext cx="3238500" cy="3238500"/>
          </a:xfrm>
          <a:prstGeom prst="ellipse">
            <a:avLst/>
          </a:prstGeom>
          <a:solidFill>
            <a:srgbClr val="FEE2D5"/>
          </a:solidFill>
          <a:ln w="38100">
            <a:solidFill>
              <a:srgbClr val="E05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5750" y="2914650"/>
            <a:ext cx="2095500" cy="1047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E05D3C"/>
                </a:solidFill>
                <a:latin typeface="Calibri"/>
              </a:rPr>
              <a:t>DEMO
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" y="1143000"/>
            <a:ext cx="3810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onsolas"/>
              </a:rPr>
              <a:t>TRY THESE PROMPTS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300" y="1352550"/>
            <a:ext cx="6667500" cy="40005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447800"/>
            <a:ext cx="6438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onsolas"/>
              </a:rPr>
              <a:t>"Which city had the highest order volume last quarter?"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300" y="1866900"/>
            <a:ext cx="6667500" cy="40005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1962150"/>
            <a:ext cx="6438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onsolas"/>
              </a:rPr>
              <a:t>"What are the top 3 products by revenue — and has that changed vs. the prior quarter?"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300" y="2381250"/>
            <a:ext cx="6667500" cy="40005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2476500"/>
            <a:ext cx="6438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onsolas"/>
              </a:rPr>
              <a:t>"Show me the return rate by product category."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5300" y="2895600"/>
            <a:ext cx="6667500" cy="40005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2990850"/>
            <a:ext cx="6438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onsolas"/>
              </a:rPr>
              <a:t>"Which customers haven't ordered in 90 days?"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F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5D3C"/>
                </a:solidFill>
                <a:latin typeface="Consolas"/>
              </a:rPr>
              <a:t>PART 04 · DEMO &amp;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723900"/>
            <a:ext cx="112014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What to take home</a:t>
            </a:r>
          </a:p>
        </p:txBody>
      </p:sp>
      <p:sp>
        <p:nvSpPr>
          <p:cNvPr id="6" name="Oval 5"/>
          <p:cNvSpPr/>
          <p:nvPr/>
        </p:nvSpPr>
        <p:spPr>
          <a:xfrm>
            <a:off x="504825" y="1181100"/>
            <a:ext cx="114300" cy="1143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11010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Calibri"/>
              </a:rPr>
              <a:t>An agent = LLM + goal + tools + memory + loop. The loop is everything.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5300" y="1485900"/>
            <a:ext cx="112014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04825" y="1638300"/>
            <a:ext cx="114300" cy="1143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11010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Calibri"/>
              </a:rPr>
              <a:t>Hierarchical + sequential processes compose — you can mix them at each level.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5300" y="1943100"/>
            <a:ext cx="112014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04825" y="2095500"/>
            <a:ext cx="114300" cy="1143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1010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Calibri"/>
              </a:rPr>
              <a:t>Guard deterministically first. Run an LLM critic only when the cheap checks pass.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5300" y="2400300"/>
            <a:ext cx="112014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4825" y="2552700"/>
            <a:ext cx="114300" cy="114300"/>
          </a:xfrm>
          <a:prstGeom prst="ellipse">
            <a:avLst/>
          </a:prstGeom>
          <a:solidFill>
            <a:srgbClr val="E05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14600"/>
            <a:ext cx="11010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Calibri"/>
              </a:rPr>
              <a:t>Token streaming + SSE makes agent work feel instant — even when it takes 10 seconds.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5300" y="2857500"/>
            <a:ext cx="112014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04825" y="3009900"/>
            <a:ext cx="114300" cy="1143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71800"/>
            <a:ext cx="11010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Calibri"/>
              </a:rPr>
              <a:t>Dynamic tool design (no hardcoded schemas) = zero code changes when data changes.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5300" y="3314700"/>
            <a:ext cx="112014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5300" y="350520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onsolas"/>
              </a:rPr>
              <a:t>RESOURCES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300" y="3714750"/>
            <a:ext cx="2571750" cy="5334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0550" y="3790950"/>
            <a:ext cx="2381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onsolas"/>
              </a:rPr>
              <a:t>crewai.com/docs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" y="4000500"/>
            <a:ext cx="2381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85858"/>
                </a:solidFill>
                <a:latin typeface="Calibri"/>
              </a:rPr>
              <a:t>Official CrewAI docs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3714750"/>
            <a:ext cx="2571750" cy="5334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5650" y="3790950"/>
            <a:ext cx="2381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onsolas"/>
              </a:rPr>
              <a:t>platform.openai.com/docs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5650" y="4000500"/>
            <a:ext cx="2381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85858"/>
                </a:solidFill>
                <a:latin typeface="Calibri"/>
              </a:rPr>
              <a:t>OpenAI function calling ref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05500" y="3714750"/>
            <a:ext cx="2571750" cy="5334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00750" y="3790950"/>
            <a:ext cx="2381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onsolas"/>
              </a:rPr>
              <a:t>duckdb.org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0750" y="4000500"/>
            <a:ext cx="2381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85858"/>
                </a:solidFill>
                <a:latin typeface="Calibri"/>
              </a:rPr>
              <a:t>DuckDB in-process SQL analytics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0600" y="3714750"/>
            <a:ext cx="2571750" cy="5334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05850" y="3790950"/>
            <a:ext cx="2381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onsolas"/>
              </a:rPr>
              <a:t>streamlit.io/docs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850" y="4000500"/>
            <a:ext cx="2381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85858"/>
                </a:solidFill>
                <a:latin typeface="Calibri"/>
              </a:rPr>
              <a:t>Streamlit chat UI docs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2095500"/>
            <a:ext cx="4191000" cy="41910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72750" y="4000500"/>
            <a:ext cx="2667000" cy="2667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90500" y="5048250"/>
            <a:ext cx="1905000" cy="19050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5300" y="152400"/>
            <a:ext cx="2190750" cy="28575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190500"/>
            <a:ext cx="2038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onsolas"/>
              </a:rPr>
              <a:t>WORKSHOP ·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0" y="209550"/>
            <a:ext cx="762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onsola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" y="1333500"/>
            <a:ext cx="9525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1A1A1A"/>
                </a:solidFill>
                <a:latin typeface="Calibri"/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" y="2724150"/>
            <a:ext cx="7429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85858"/>
                </a:solidFill>
                <a:latin typeface="Calibri"/>
              </a:rPr>
              <a:t>It was a pleasure building this together.
Happy to answer questions — or take it further with you.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300" y="3619500"/>
            <a:ext cx="5524500" cy="11430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" y="3714750"/>
            <a:ext cx="52387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Syed Junaid Iqbal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4095750"/>
            <a:ext cx="52387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7C3AED"/>
                </a:solidFill>
                <a:latin typeface="Consolas"/>
              </a:rPr>
              <a:t>linkedin.com/in/syedjunaidiqbal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4343400"/>
            <a:ext cx="52387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E9E9E"/>
                </a:solidFill>
                <a:latin typeface="Consolas"/>
              </a:rPr>
              <a:t>junaid.96@hotmail.com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19500"/>
            <a:ext cx="4953000" cy="11430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5550" y="3714750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CODE &amp; SLIDES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5550" y="3924300"/>
            <a:ext cx="45720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All source code in the workshop repo —
clone, extend, ship.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5550" y="4400550"/>
            <a:ext cx="4572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D9488"/>
                </a:solidFill>
                <a:latin typeface="Consolas"/>
              </a:rPr>
              <a:t>uv sync &amp;&amp; uv run main.py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6050"/>
            <a:ext cx="12192000" cy="342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300" y="6581775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onsolas"/>
              </a:rPr>
              <a:t>MULTI-LEVEL CREWAI ANALYTICS CHATBOT — WORKSHOP DAY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63250" y="65817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E9E9E"/>
                </a:solidFill>
                <a:latin typeface="Consolas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